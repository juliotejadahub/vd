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503" autoAdjust="0"/>
  </p:normalViewPr>
  <p:slideViewPr>
    <p:cSldViewPr snapToGrid="0">
      <p:cViewPr varScale="1">
        <p:scale>
          <a:sx n="85" d="100"/>
          <a:sy n="85" d="100"/>
        </p:scale>
        <p:origin x="15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CC4DF-368E-491C-97DE-23E53DCC870F}" type="datetimeFigureOut">
              <a:rPr lang="es-PE" smtClean="0"/>
              <a:t>6/02/2026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2D54A-7557-4475-BC19-624E6F4139A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6206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En este proyecto desarrollamos una aplicación de visión artificial</a:t>
            </a:r>
            <a:br>
              <a:rPr lang="es-ES" dirty="0"/>
            </a:br>
            <a:r>
              <a:rPr lang="es-ES" dirty="0"/>
              <a:t>para la detección de vehículos en escenarios de tráfico urbano usando YOLOv8</a:t>
            </a:r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D54A-7557-4475-BC19-624E6F4139A6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803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Actualmente, el monitoreo del tráfico en entornos urbanos suele realizarse de forma manual o con sistemas poco automatizados,</a:t>
            </a:r>
            <a:br>
              <a:rPr lang="es-ES" dirty="0"/>
            </a:br>
            <a:r>
              <a:rPr lang="es-ES" dirty="0"/>
              <a:t>lo cual es costoso y poco escalable.</a:t>
            </a:r>
          </a:p>
          <a:p>
            <a:r>
              <a:rPr lang="es-ES" dirty="0"/>
              <a:t>La detección automática de vehículos permite analizar el flujo vehicular, mejorar la seguridad vial y servir como base para sistemas de ciudades</a:t>
            </a:r>
            <a:br>
              <a:rPr lang="es-ES" dirty="0"/>
            </a:br>
            <a:r>
              <a:rPr lang="es-ES" dirty="0"/>
              <a:t>inteligentes.</a:t>
            </a:r>
            <a:br>
              <a:rPr lang="es-ES" dirty="0"/>
            </a:br>
            <a:r>
              <a:rPr lang="es-ES" dirty="0"/>
              <a:t>Por ello, la visión artificial se presenta como una solución eficiente para abordar este problema</a:t>
            </a:r>
          </a:p>
          <a:p>
            <a:endParaRPr lang="es-ES" dirty="0"/>
          </a:p>
          <a:p>
            <a:r>
              <a:rPr lang="es-ES" dirty="0"/>
              <a:t>El objetivo fue implementar y evaluar un modelo de </a:t>
            </a:r>
            <a:r>
              <a:rPr lang="es-ES" dirty="0" err="1"/>
              <a:t>deep</a:t>
            </a:r>
            <a:r>
              <a:rPr lang="es-ES" dirty="0"/>
              <a:t> </a:t>
            </a:r>
            <a:r>
              <a:rPr lang="es-ES" dirty="0" err="1"/>
              <a:t>learning</a:t>
            </a:r>
            <a:br>
              <a:rPr lang="es-ES" dirty="0"/>
            </a:br>
            <a:r>
              <a:rPr lang="es-ES" dirty="0"/>
              <a:t>capaz de detectar vehículos de forma eficiente y precisa en imágenes de tráfico.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D54A-7557-4475-BC19-624E6F4139A6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5014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Utilizamos un </a:t>
            </a:r>
            <a:r>
              <a:rPr lang="es-ES" dirty="0" err="1"/>
              <a:t>dataset</a:t>
            </a:r>
            <a:r>
              <a:rPr lang="es-ES" dirty="0"/>
              <a:t> público de </a:t>
            </a:r>
            <a:r>
              <a:rPr lang="es-ES" dirty="0" err="1"/>
              <a:t>Kaggle</a:t>
            </a:r>
            <a:r>
              <a:rPr lang="es-ES" dirty="0"/>
              <a:t> con imágenes de tráfico etiquetadas para detección de objetos.</a:t>
            </a:r>
          </a:p>
          <a:p>
            <a:endParaRPr lang="es-ES" dirty="0"/>
          </a:p>
          <a:p>
            <a:r>
              <a:rPr lang="es-ES" dirty="0"/>
              <a:t>Utilizamos un </a:t>
            </a:r>
            <a:r>
              <a:rPr lang="es-ES" dirty="0" err="1"/>
              <a:t>dataset</a:t>
            </a:r>
            <a:r>
              <a:rPr lang="es-ES" dirty="0"/>
              <a:t> público de </a:t>
            </a:r>
            <a:r>
              <a:rPr lang="es-ES" dirty="0" err="1"/>
              <a:t>Kaggle</a:t>
            </a:r>
            <a:r>
              <a:rPr lang="es-ES" dirty="0"/>
              <a:t> compuesto por imágenes de tráfico urbano.</a:t>
            </a:r>
            <a:br>
              <a:rPr lang="es-ES" dirty="0"/>
            </a:br>
            <a:r>
              <a:rPr lang="es-ES" dirty="0"/>
              <a:t>Los datos están etiquetados en </a:t>
            </a:r>
            <a:r>
              <a:rPr lang="es-ES" b="1" dirty="0"/>
              <a:t>formato YOLO</a:t>
            </a:r>
            <a:r>
              <a:rPr lang="es-ES" dirty="0"/>
              <a:t>, lo que significa que cada objeto está representado por una caja delimitadora junto con su clase y coordenadas normalizadas respecto al tamaño de la imagen.</a:t>
            </a:r>
            <a:br>
              <a:rPr lang="es-ES" dirty="0"/>
            </a:br>
            <a:r>
              <a:rPr lang="es-ES" dirty="0"/>
              <a:t>Esto permite que el </a:t>
            </a:r>
            <a:r>
              <a:rPr lang="es-ES" dirty="0" err="1"/>
              <a:t>dataset</a:t>
            </a:r>
            <a:r>
              <a:rPr lang="es-ES" dirty="0"/>
              <a:t> sea directamente compatible con el modelo utilizado.</a:t>
            </a:r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D54A-7557-4475-BC19-624E6F4139A6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4722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Antes de entrenar el modelo, exploramos los datos para verificar la cantidad de imágenes y la coherencia de las etiquetas</a:t>
            </a:r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D54A-7557-4475-BC19-624E6F4139A6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711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la detección de vehículos se utilizó YOLOv8, un modelo de la familia YOLO (</a:t>
            </a:r>
            <a:r>
              <a:rPr lang="es-ES" i="1" dirty="0" err="1"/>
              <a:t>You</a:t>
            </a:r>
            <a:r>
              <a:rPr lang="es-ES" i="1" dirty="0"/>
              <a:t> </a:t>
            </a:r>
            <a:r>
              <a:rPr lang="es-ES" i="1" dirty="0" err="1"/>
              <a:t>Only</a:t>
            </a:r>
            <a:r>
              <a:rPr lang="es-ES" i="1" dirty="0"/>
              <a:t> Look Once</a:t>
            </a:r>
            <a:r>
              <a:rPr lang="es-ES" dirty="0"/>
              <a:t>),</a:t>
            </a:r>
            <a:br>
              <a:rPr lang="es-ES" dirty="0"/>
            </a:br>
            <a:r>
              <a:rPr lang="es-ES" dirty="0"/>
              <a:t>caracterizado por realizar la detección y clasificación en una sola etapa. Esto permite un procesamiento rápido, lo que lo hace adecuado para escenarios de tráfico en tiempo real.</a:t>
            </a:r>
          </a:p>
          <a:p>
            <a:endParaRPr lang="es-ES" dirty="0"/>
          </a:p>
          <a:p>
            <a:r>
              <a:rPr lang="es-ES" dirty="0"/>
              <a:t>La arquitectura del modelo se compone de tres partes:</a:t>
            </a:r>
            <a:br>
              <a:rPr lang="es-ES" dirty="0"/>
            </a:br>
            <a:r>
              <a:rPr lang="es-ES" dirty="0"/>
              <a:t>el </a:t>
            </a:r>
            <a:r>
              <a:rPr lang="es-ES" b="1" dirty="0" err="1"/>
              <a:t>backbone</a:t>
            </a:r>
            <a:r>
              <a:rPr lang="es-ES" dirty="0"/>
              <a:t>, que extrae características de la imagen;</a:t>
            </a:r>
            <a:br>
              <a:rPr lang="es-ES" dirty="0"/>
            </a:br>
            <a:r>
              <a:rPr lang="es-ES" dirty="0"/>
              <a:t>el </a:t>
            </a:r>
            <a:r>
              <a:rPr lang="es-ES" b="1" dirty="0" err="1"/>
              <a:t>neck</a:t>
            </a:r>
            <a:r>
              <a:rPr lang="es-ES" dirty="0"/>
              <a:t>, que combina información a distintas escalas;</a:t>
            </a:r>
            <a:br>
              <a:rPr lang="es-ES" dirty="0"/>
            </a:br>
            <a:r>
              <a:rPr lang="es-ES" dirty="0"/>
              <a:t>y el </a:t>
            </a:r>
            <a:r>
              <a:rPr lang="es-ES" b="1" dirty="0"/>
              <a:t>head</a:t>
            </a:r>
            <a:r>
              <a:rPr lang="es-ES" dirty="0"/>
              <a:t>, que genera las predicciones finales,</a:t>
            </a:r>
            <a:br>
              <a:rPr lang="es-ES" dirty="0"/>
            </a:br>
            <a:r>
              <a:rPr lang="es-ES" dirty="0"/>
              <a:t>incluyendo las cajas delimitadoras, la clase y la probabilidad.</a:t>
            </a:r>
          </a:p>
          <a:p>
            <a:endParaRPr lang="es-ES" dirty="0"/>
          </a:p>
          <a:p>
            <a:r>
              <a:rPr lang="es-ES" dirty="0"/>
              <a:t>El modelo recibe imágenes RGB como entrada</a:t>
            </a:r>
            <a:br>
              <a:rPr lang="es-ES" dirty="0"/>
            </a:br>
            <a:r>
              <a:rPr lang="es-ES" dirty="0"/>
              <a:t>y produce la localización y clasificación de los objetos detectados.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D54A-7557-4475-BC19-624E6F4139A6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4060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Esto reduce el tiempo de entrenamiento y mejora el desempeño.</a:t>
            </a:r>
          </a:p>
          <a:p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Un balance adecuado para el tamaño del </a:t>
            </a:r>
            <a:r>
              <a:rPr lang="es-ES" dirty="0" err="1"/>
              <a:t>dataset</a:t>
            </a:r>
            <a:r>
              <a:rPr lang="es-ES" dirty="0"/>
              <a:t>.</a:t>
            </a:r>
          </a:p>
          <a:p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Porque permite mejorar el rendimiento y reducir el tiempo de entrenamiento al reutilizar conocimiento previo.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D54A-7557-4475-BC19-624E6F4139A6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7367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Precision</a:t>
            </a:r>
            <a:r>
              <a:rPr lang="es-ES" dirty="0"/>
              <a:t> (P = 0.891)</a:t>
            </a:r>
          </a:p>
          <a:p>
            <a:r>
              <a:rPr lang="es-ES" dirty="0"/>
              <a:t>De todas las detecciones que hizo el modelo, el 89.1% fueron correctas</a:t>
            </a:r>
          </a:p>
          <a:p>
            <a:endParaRPr lang="es-ES" dirty="0"/>
          </a:p>
          <a:p>
            <a:r>
              <a:rPr lang="es-PE" dirty="0" err="1"/>
              <a:t>Recall</a:t>
            </a:r>
            <a:r>
              <a:rPr lang="es-PE" dirty="0"/>
              <a:t> (R = 0.823)</a:t>
            </a:r>
            <a:endParaRPr lang="es-ES" dirty="0"/>
          </a:p>
          <a:p>
            <a:r>
              <a:rPr lang="es-ES" dirty="0"/>
              <a:t>El modelo detectó el 82.3% de los objetos reales presentes.</a:t>
            </a:r>
          </a:p>
          <a:p>
            <a:r>
              <a:rPr lang="es-ES" dirty="0"/>
              <a:t>El modelo logra detectar la mayoría de los vehículos presentes,</a:t>
            </a:r>
          </a:p>
          <a:p>
            <a:r>
              <a:rPr lang="es-ES" dirty="0"/>
              <a:t>aunque algunos se pierden en escenas complejas</a:t>
            </a:r>
          </a:p>
          <a:p>
            <a:endParaRPr lang="es-ES" dirty="0"/>
          </a:p>
          <a:p>
            <a:r>
              <a:rPr lang="es-PE" dirty="0"/>
              <a:t>mAP@50 (0.895)</a:t>
            </a:r>
          </a:p>
          <a:p>
            <a:r>
              <a:rPr lang="es-ES" dirty="0"/>
              <a:t>Mide qué tan bien detecta y localiza objetos con una tolerancia estándar</a:t>
            </a:r>
            <a:endParaRPr lang="es-PE" dirty="0"/>
          </a:p>
          <a:p>
            <a:r>
              <a:rPr lang="es-ES" dirty="0"/>
              <a:t>El mAP@50 cercano a 0.9 indica que el modelo localiza correctamente</a:t>
            </a:r>
          </a:p>
          <a:p>
            <a:r>
              <a:rPr lang="es-ES" dirty="0"/>
              <a:t>los objetos y los clasifica bien.</a:t>
            </a:r>
            <a:endParaRPr lang="es-PE" dirty="0"/>
          </a:p>
          <a:p>
            <a:endParaRPr lang="es-PE" dirty="0"/>
          </a:p>
          <a:p>
            <a:r>
              <a:rPr lang="es-PE" dirty="0"/>
              <a:t> mAP@50–95 (0.640)</a:t>
            </a:r>
          </a:p>
          <a:p>
            <a:r>
              <a:rPr lang="es-ES" dirty="0"/>
              <a:t>Métrica más estricta: evalúa precisión del </a:t>
            </a:r>
            <a:r>
              <a:rPr lang="es-ES" dirty="0" err="1"/>
              <a:t>bounding</a:t>
            </a:r>
            <a:r>
              <a:rPr lang="es-ES" dirty="0"/>
              <a:t> box en varios umbrales</a:t>
            </a:r>
          </a:p>
          <a:p>
            <a:r>
              <a:rPr lang="es-ES" dirty="0"/>
              <a:t>Este valor es más bajo porque exige mayor precisión en la localización,</a:t>
            </a:r>
          </a:p>
          <a:p>
            <a:r>
              <a:rPr lang="es-ES" dirty="0"/>
              <a:t>lo cual es normal en modelos livianos como YOLOv8n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Los buses tienen mejor desempeño porque son grandes y visualmente distinguibles.</a:t>
            </a:r>
          </a:p>
          <a:p>
            <a:r>
              <a:rPr lang="es-ES" dirty="0"/>
              <a:t>La clase auto tiene alto </a:t>
            </a:r>
            <a:r>
              <a:rPr lang="es-ES" dirty="0" err="1"/>
              <a:t>recall</a:t>
            </a:r>
            <a:r>
              <a:rPr lang="es-ES" dirty="0"/>
              <a:t> debido a la gran </a:t>
            </a:r>
            <a:r>
              <a:rPr lang="es-ES" dirty="0" err="1"/>
              <a:t>cantidadde</a:t>
            </a:r>
            <a:r>
              <a:rPr lang="es-ES" dirty="0"/>
              <a:t> ejemplos en el </a:t>
            </a:r>
            <a:r>
              <a:rPr lang="es-ES" dirty="0" err="1"/>
              <a:t>dataset</a:t>
            </a:r>
            <a:r>
              <a:rPr lang="es-ES" dirty="0"/>
              <a:t>.</a:t>
            </a:r>
          </a:p>
          <a:p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D54A-7557-4475-BC19-624E6F4139A6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3159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D54A-7557-4475-BC19-624E6F4139A6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3044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D54A-7557-4475-BC19-624E6F4139A6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07512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2D54A-7557-4475-BC19-624E6F4139A6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5855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A5F7D-FC17-8532-9D2D-F6C7BD520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697" y="1869654"/>
            <a:ext cx="6521852" cy="2133599"/>
          </a:xfrm>
        </p:spPr>
        <p:txBody>
          <a:bodyPr>
            <a:noAutofit/>
          </a:bodyPr>
          <a:lstStyle/>
          <a:p>
            <a:r>
              <a:rPr lang="es-PE" sz="5400" spc="-299" dirty="0">
                <a:latin typeface="Arial" panose="020B0604020202020204" pitchFamily="34" charset="0"/>
                <a:ea typeface="ITC Avant Garde Gothic"/>
                <a:cs typeface="Arial" panose="020B0604020202020204" pitchFamily="34" charset="0"/>
                <a:sym typeface="ITC Avant Garde Gothic"/>
              </a:rPr>
              <a:t>Proyecto de Detección de Trafico</a:t>
            </a:r>
            <a:endParaRPr lang="es-PE" sz="2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1A627B-3267-980F-D534-EBF7981A5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6500" y="4843644"/>
            <a:ext cx="5216834" cy="1655762"/>
          </a:xfrm>
        </p:spPr>
        <p:txBody>
          <a:bodyPr/>
          <a:lstStyle/>
          <a:p>
            <a:pPr marL="0" lvl="0" indent="0" algn="l">
              <a:lnSpc>
                <a:spcPts val="3640"/>
              </a:lnSpc>
            </a:pP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ea typeface="TT Fors"/>
                <a:cs typeface="Arial" panose="020B0604020202020204" pitchFamily="34" charset="0"/>
                <a:sym typeface="TT Fors"/>
              </a:rPr>
              <a:t>Integrantes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TT Fors"/>
                <a:cs typeface="Arial" panose="020B0604020202020204" pitchFamily="34" charset="0"/>
                <a:sym typeface="TT Fors"/>
              </a:rPr>
              <a:t>: Julio Cesar Tejada Manrique </a:t>
            </a:r>
          </a:p>
          <a:p>
            <a:pPr marL="0" lvl="0" indent="0" algn="l">
              <a:lnSpc>
                <a:spcPts val="3640"/>
              </a:lnSpc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ea typeface="TT Fors"/>
                <a:cs typeface="Arial" panose="020B0604020202020204" pitchFamily="34" charset="0"/>
                <a:sym typeface="TT Fors"/>
              </a:rPr>
              <a:t>Fecha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TT Fors"/>
                <a:cs typeface="Arial" panose="020B0604020202020204" pitchFamily="34" charset="0"/>
                <a:sym typeface="TT Fors"/>
              </a:rPr>
              <a:t>: 2026-02-06</a:t>
            </a:r>
          </a:p>
          <a:p>
            <a:endParaRPr lang="es-PE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4D381727-64B7-55D7-59E6-5394F6C2477A}"/>
              </a:ext>
            </a:extLst>
          </p:cNvPr>
          <p:cNvGrpSpPr/>
          <p:nvPr/>
        </p:nvGrpSpPr>
        <p:grpSpPr>
          <a:xfrm>
            <a:off x="8313409" y="289831"/>
            <a:ext cx="3141744" cy="6278337"/>
            <a:chOff x="-56075" y="-46488"/>
            <a:chExt cx="994603" cy="159372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4878B152-4165-ACFA-CB2D-179E577A30CF}"/>
                </a:ext>
              </a:extLst>
            </p:cNvPr>
            <p:cNvSpPr/>
            <p:nvPr/>
          </p:nvSpPr>
          <p:spPr>
            <a:xfrm>
              <a:off x="-56075" y="-46488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t="-126" b="-126"/>
              </a:stretch>
            </a:blipFill>
          </p:spPr>
          <p:txBody>
            <a:bodyPr/>
            <a:lstStyle/>
            <a:p>
              <a:endParaRPr lang="es-PE" dirty="0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192FB2A6-253E-57F0-43A6-7DDD481384B0}"/>
              </a:ext>
            </a:extLst>
          </p:cNvPr>
          <p:cNvSpPr txBox="1"/>
          <p:nvPr/>
        </p:nvSpPr>
        <p:spPr>
          <a:xfrm>
            <a:off x="1876425" y="382932"/>
            <a:ext cx="5344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Desarrollo en Aplicaciones con Visión Artificial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3049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FA2A7-F5A2-19E0-8943-E881C214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F54C3D-BCB0-7BBC-F0EA-C47DC7BAE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445819" cy="3796206"/>
          </a:xfrm>
        </p:spPr>
        <p:txBody>
          <a:bodyPr>
            <a:normAutofit/>
          </a:bodyPr>
          <a:lstStyle/>
          <a:p>
            <a:pPr marL="514350" lvl="0" indent="-514350" algn="l">
              <a:lnSpc>
                <a:spcPts val="3594"/>
              </a:lnSpc>
              <a:spcBef>
                <a:spcPct val="0"/>
              </a:spcBef>
              <a:buAutoNum type="arabicPeriod"/>
            </a:pPr>
            <a:r>
              <a:rPr lang="es-PE" sz="2400" u="none" strike="noStrike" spc="-77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Definición del problema</a:t>
            </a:r>
          </a:p>
          <a:p>
            <a:pPr marL="514350" lvl="0" indent="-514350" algn="l">
              <a:lnSpc>
                <a:spcPts val="3594"/>
              </a:lnSpc>
              <a:spcBef>
                <a:spcPct val="0"/>
              </a:spcBef>
              <a:buAutoNum type="arabicPeriod"/>
            </a:pPr>
            <a:r>
              <a:rPr lang="es-PE" sz="2400" u="none" strike="noStrike" spc="-77" dirty="0" err="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Dataset</a:t>
            </a:r>
            <a:endParaRPr lang="es-PE" sz="2400" u="none" strike="noStrike" spc="-77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514350" lvl="0" indent="-514350" algn="l">
              <a:lnSpc>
                <a:spcPts val="3594"/>
              </a:lnSpc>
              <a:spcBef>
                <a:spcPct val="0"/>
              </a:spcBef>
              <a:buAutoNum type="arabicPeriod"/>
            </a:pPr>
            <a:r>
              <a:rPr lang="es-PE" sz="2400" u="none" strike="noStrike" spc="-77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Exploración de datos</a:t>
            </a:r>
            <a:endParaRPr lang="es-PE" spc="-77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514350" lvl="0" indent="-514350" algn="l">
              <a:lnSpc>
                <a:spcPts val="3594"/>
              </a:lnSpc>
              <a:spcBef>
                <a:spcPct val="0"/>
              </a:spcBef>
              <a:buAutoNum type="arabicPeriod"/>
            </a:pPr>
            <a:r>
              <a:rPr lang="es-PE" sz="2400" u="none" strike="noStrike" spc="-77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Modelo Seleccionado: YOLOv8</a:t>
            </a:r>
          </a:p>
          <a:p>
            <a:pPr marL="514350" lvl="0" indent="-514350" algn="l">
              <a:lnSpc>
                <a:spcPts val="3594"/>
              </a:lnSpc>
              <a:spcBef>
                <a:spcPct val="0"/>
              </a:spcBef>
              <a:buAutoNum type="arabicPeriod"/>
            </a:pPr>
            <a:r>
              <a:rPr lang="es-PE" sz="2400" u="none" strike="noStrike" spc="-77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Transfer </a:t>
            </a:r>
            <a:r>
              <a:rPr lang="es-PE" sz="2400" u="none" strike="noStrike" spc="-77" dirty="0" err="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Learning</a:t>
            </a:r>
            <a:r>
              <a:rPr lang="es-PE" sz="2400" u="none" strike="noStrike" spc="-77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(entrenamiento)</a:t>
            </a:r>
            <a:endParaRPr lang="es-PE" spc="-77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514350" lvl="0" indent="-514350" algn="l">
              <a:lnSpc>
                <a:spcPts val="3594"/>
              </a:lnSpc>
              <a:spcBef>
                <a:spcPct val="0"/>
              </a:spcBef>
              <a:buAutoNum type="arabicPeriod"/>
            </a:pPr>
            <a:r>
              <a:rPr lang="es-PE" sz="2400" u="none" strike="noStrike" spc="-77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Resultados y Métricas</a:t>
            </a:r>
          </a:p>
          <a:p>
            <a:pPr marL="514350" lvl="0" indent="-514350" algn="l">
              <a:lnSpc>
                <a:spcPts val="3594"/>
              </a:lnSpc>
              <a:spcBef>
                <a:spcPct val="0"/>
              </a:spcBef>
              <a:buAutoNum type="arabicPeriod"/>
            </a:pPr>
            <a:r>
              <a:rPr lang="es-PE" spc="-77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Test</a:t>
            </a:r>
            <a:endParaRPr lang="es-PE" sz="2400" u="none" strike="noStrike" spc="-77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514350" lvl="0" indent="-514350" algn="l">
              <a:lnSpc>
                <a:spcPts val="3594"/>
              </a:lnSpc>
              <a:spcBef>
                <a:spcPct val="0"/>
              </a:spcBef>
              <a:buAutoNum type="arabicPeriod"/>
            </a:pPr>
            <a:r>
              <a:rPr lang="es-PE" sz="2400" u="none" strike="noStrike" spc="-77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Conclusiones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54ED71-43F5-FCEF-BAA5-8B9007957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363" y="2249487"/>
            <a:ext cx="5215395" cy="321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46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370D0-7A04-ECF7-BA84-E3A0B7EA5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1. DEFINICION DEL 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89B076-AF94-7A8B-6DD6-9EAB8334F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9338" y="2222854"/>
            <a:ext cx="5081835" cy="3884983"/>
          </a:xfrm>
        </p:spPr>
        <p:txBody>
          <a:bodyPr>
            <a:normAutofit/>
          </a:bodyPr>
          <a:lstStyle/>
          <a:p>
            <a:r>
              <a:rPr lang="es-PE" dirty="0"/>
              <a:t>Monitoreo manual del tráfico es costoso e ineficiente</a:t>
            </a:r>
          </a:p>
          <a:p>
            <a:r>
              <a:rPr lang="es-PE" dirty="0"/>
              <a:t>Necesidad de detección automática de vehículos</a:t>
            </a:r>
          </a:p>
          <a:p>
            <a:r>
              <a:rPr lang="es-PE" dirty="0"/>
              <a:t>Aplicaciones en seguridad vial y gestión urbana</a:t>
            </a:r>
          </a:p>
          <a:p>
            <a:r>
              <a:rPr lang="es-PE" dirty="0"/>
              <a:t>Base para sistemas de </a:t>
            </a:r>
            <a:r>
              <a:rPr lang="es-PE" dirty="0" err="1"/>
              <a:t>smart</a:t>
            </a:r>
            <a:r>
              <a:rPr lang="es-PE" dirty="0"/>
              <a:t> </a:t>
            </a:r>
            <a:r>
              <a:rPr lang="es-PE" dirty="0" err="1"/>
              <a:t>cities</a:t>
            </a:r>
            <a:endParaRPr lang="es-PE" dirty="0"/>
          </a:p>
          <a:p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9B4A2E-B711-9F3A-EE05-B90693CC8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61" y="2435909"/>
            <a:ext cx="5259351" cy="314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3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CF00F-16B6-4958-6DFA-A70F49082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3512"/>
            <a:ext cx="9905998" cy="1478570"/>
          </a:xfrm>
        </p:spPr>
        <p:txBody>
          <a:bodyPr>
            <a:normAutofit/>
          </a:bodyPr>
          <a:lstStyle/>
          <a:p>
            <a:r>
              <a:rPr lang="es-PE" dirty="0"/>
              <a:t>2. </a:t>
            </a:r>
            <a:r>
              <a:rPr lang="es-PE" dirty="0" err="1"/>
              <a:t>Dataset</a:t>
            </a:r>
            <a:endParaRPr lang="es-PE" b="1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E50A4A-3DC8-5871-BC45-C4E0289EE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49991"/>
            <a:ext cx="7212474" cy="4160191"/>
          </a:xfrm>
        </p:spPr>
        <p:txBody>
          <a:bodyPr>
            <a:normAutofit fontScale="77500" lnSpcReduction="20000"/>
          </a:bodyPr>
          <a:lstStyle/>
          <a:p>
            <a:r>
              <a:rPr lang="es-PE" dirty="0"/>
              <a:t> Fuente: Detección de trafico (</a:t>
            </a:r>
            <a:r>
              <a:rPr lang="es-PE" dirty="0" err="1"/>
              <a:t>Kaggle</a:t>
            </a:r>
            <a:r>
              <a:rPr lang="es-PE" dirty="0"/>
              <a:t>)</a:t>
            </a:r>
          </a:p>
          <a:p>
            <a:r>
              <a:rPr lang="es-PE" dirty="0"/>
              <a:t>LINK: https://www.kaggle.com/datasets/yusufberksardoan/traffic-detection-project/data</a:t>
            </a:r>
          </a:p>
          <a:p>
            <a:r>
              <a:rPr lang="es-PE" dirty="0"/>
              <a:t>Clases: car, bus, </a:t>
            </a:r>
            <a:r>
              <a:rPr lang="es-PE" dirty="0" err="1"/>
              <a:t>bicycle</a:t>
            </a:r>
            <a:r>
              <a:rPr lang="es-PE" dirty="0"/>
              <a:t>, </a:t>
            </a:r>
            <a:r>
              <a:rPr lang="es-PE" dirty="0" err="1"/>
              <a:t>motorbike</a:t>
            </a:r>
            <a:r>
              <a:rPr lang="es-PE" dirty="0"/>
              <a:t>, </a:t>
            </a:r>
            <a:r>
              <a:rPr lang="es-PE" dirty="0" err="1"/>
              <a:t>person</a:t>
            </a:r>
            <a:endParaRPr lang="es-PE" dirty="0"/>
          </a:p>
          <a:p>
            <a:r>
              <a:rPr lang="es-PE" dirty="0"/>
              <a:t>Datos: etiquetados en formato YOLO</a:t>
            </a:r>
          </a:p>
          <a:p>
            <a:r>
              <a:rPr lang="es-PE" dirty="0"/>
              <a:t>Tipo Datos: Imágenes</a:t>
            </a:r>
          </a:p>
          <a:p>
            <a:r>
              <a:rPr lang="es-PE" dirty="0"/>
              <a:t>Resolución aproximada: 640x640 píxeles</a:t>
            </a:r>
          </a:p>
          <a:p>
            <a:r>
              <a:rPr lang="es-PE" dirty="0"/>
              <a:t>Estructura:</a:t>
            </a:r>
          </a:p>
          <a:p>
            <a:pPr lvl="1"/>
            <a:r>
              <a:rPr lang="es-PE" dirty="0"/>
              <a:t>Train: imágenes para entrenamiento</a:t>
            </a:r>
          </a:p>
          <a:p>
            <a:pPr lvl="1"/>
            <a:r>
              <a:rPr lang="es-PE" dirty="0" err="1"/>
              <a:t>Validation</a:t>
            </a:r>
            <a:r>
              <a:rPr lang="es-PE" dirty="0"/>
              <a:t>: imágenes para validación</a:t>
            </a:r>
          </a:p>
          <a:p>
            <a:pPr lvl="1"/>
            <a:r>
              <a:rPr lang="es-PE" dirty="0"/>
              <a:t>Test: imágenes para prueba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DD940E-79E9-EBC1-2FC8-562680B2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085" y="2142279"/>
            <a:ext cx="2328152" cy="33600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452091-0ABD-5747-CEB2-154FC4C28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511" y="229728"/>
            <a:ext cx="6224726" cy="137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0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C9BD4-E30E-2734-30DB-85B10727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2491"/>
            <a:ext cx="9905998" cy="1478570"/>
          </a:xfrm>
        </p:spPr>
        <p:txBody>
          <a:bodyPr/>
          <a:lstStyle/>
          <a:p>
            <a:r>
              <a:rPr lang="es-PE" dirty="0"/>
              <a:t>3. Exploración de datos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9E770C-E14C-FD97-DC76-4FB7E4606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1907251"/>
            <a:ext cx="4768149" cy="18657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5C4718D-2C77-6617-9D4E-E2A2192FC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591" y="3721547"/>
            <a:ext cx="2638762" cy="2769394"/>
          </a:xfrm>
          <a:prstGeom prst="rect">
            <a:avLst/>
          </a:prstGeom>
        </p:spPr>
      </p:pic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FDE77D79-A6D9-CF65-8D79-D83A5201D539}"/>
              </a:ext>
            </a:extLst>
          </p:cNvPr>
          <p:cNvSpPr/>
          <p:nvPr/>
        </p:nvSpPr>
        <p:spPr>
          <a:xfrm>
            <a:off x="4607511" y="2503503"/>
            <a:ext cx="1100831" cy="5859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F12466C6-1CC5-DCF4-237E-80E753E4823E}"/>
              </a:ext>
            </a:extLst>
          </p:cNvPr>
          <p:cNvSpPr/>
          <p:nvPr/>
        </p:nvSpPr>
        <p:spPr>
          <a:xfrm flipH="1">
            <a:off x="5354714" y="4820134"/>
            <a:ext cx="1232517" cy="6840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D33335F-4254-8FA2-7A0C-74F715D87537}"/>
              </a:ext>
            </a:extLst>
          </p:cNvPr>
          <p:cNvSpPr txBox="1"/>
          <p:nvPr/>
        </p:nvSpPr>
        <p:spPr>
          <a:xfrm>
            <a:off x="1141413" y="2611800"/>
            <a:ext cx="3407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Se valida la cantidad de imágenes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D1AF470-0496-06F9-5AB4-2283315A2759}"/>
              </a:ext>
            </a:extLst>
          </p:cNvPr>
          <p:cNvSpPr txBox="1"/>
          <p:nvPr/>
        </p:nvSpPr>
        <p:spPr>
          <a:xfrm>
            <a:off x="6978018" y="4921578"/>
            <a:ext cx="245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Ejemplo de las </a:t>
            </a:r>
            <a:r>
              <a:rPr lang="es-PE" dirty="0" err="1"/>
              <a:t>imagenes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39322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B14D6-9EA8-FD5C-42DF-A650F468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30246"/>
            <a:ext cx="9905998" cy="1478570"/>
          </a:xfrm>
        </p:spPr>
        <p:txBody>
          <a:bodyPr/>
          <a:lstStyle/>
          <a:p>
            <a:r>
              <a:rPr lang="es-PE" dirty="0"/>
              <a:t>4. Modelo seleccionado: YOLOv8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534F18-CB0E-ED1D-69B6-DC1D256D2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25118"/>
            <a:ext cx="10000064" cy="5388746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YOLO (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Only</a:t>
            </a:r>
            <a:r>
              <a:rPr lang="es-ES" dirty="0"/>
              <a:t> Look Once) es una arquitectura de tipo </a:t>
            </a:r>
            <a:r>
              <a:rPr lang="es-ES" dirty="0" err="1"/>
              <a:t>one-stage</a:t>
            </a:r>
            <a:r>
              <a:rPr lang="es-ES" dirty="0"/>
              <a:t> detector, lo que significa que realiza la detección y clasificación de objetos en una sola pasada de la red.</a:t>
            </a:r>
          </a:p>
          <a:p>
            <a:r>
              <a:rPr lang="es-ES" dirty="0"/>
              <a:t>Características de YOLOv8:</a:t>
            </a:r>
          </a:p>
          <a:p>
            <a:pPr lvl="1"/>
            <a:r>
              <a:rPr lang="es-ES" dirty="0" err="1"/>
              <a:t>Backbone</a:t>
            </a:r>
            <a:r>
              <a:rPr lang="es-ES" dirty="0"/>
              <a:t>: red convolucional para extracción de características</a:t>
            </a:r>
          </a:p>
          <a:p>
            <a:pPr lvl="1"/>
            <a:r>
              <a:rPr lang="es-ES" dirty="0" err="1"/>
              <a:t>Neck</a:t>
            </a:r>
            <a:r>
              <a:rPr lang="es-ES" dirty="0"/>
              <a:t>: fusión de características </a:t>
            </a:r>
            <a:r>
              <a:rPr lang="es-ES" dirty="0" err="1"/>
              <a:t>multi-escala</a:t>
            </a:r>
            <a:endParaRPr lang="es-ES" dirty="0"/>
          </a:p>
          <a:p>
            <a:pPr lvl="1"/>
            <a:r>
              <a:rPr lang="es-ES" dirty="0"/>
              <a:t>Head: predicción de </a:t>
            </a:r>
            <a:r>
              <a:rPr lang="es-ES" dirty="0" err="1"/>
              <a:t>bounding</a:t>
            </a:r>
            <a:r>
              <a:rPr lang="es-ES" dirty="0"/>
              <a:t> boxes, clases y probabilidades</a:t>
            </a:r>
          </a:p>
          <a:p>
            <a:r>
              <a:rPr lang="es-ES" dirty="0"/>
              <a:t>Entrada: </a:t>
            </a:r>
          </a:p>
          <a:p>
            <a:pPr lvl="1"/>
            <a:r>
              <a:rPr lang="es-ES" dirty="0"/>
              <a:t>imágenes RGB de tamaño 640x640</a:t>
            </a:r>
          </a:p>
          <a:p>
            <a:r>
              <a:rPr lang="es-ES" dirty="0"/>
              <a:t>Salida:</a:t>
            </a:r>
          </a:p>
          <a:p>
            <a:pPr lvl="1"/>
            <a:r>
              <a:rPr lang="es-ES" dirty="0"/>
              <a:t>Coordenadas de </a:t>
            </a:r>
            <a:r>
              <a:rPr lang="es-ES" dirty="0" err="1"/>
              <a:t>bounding</a:t>
            </a:r>
            <a:r>
              <a:rPr lang="es-ES" dirty="0"/>
              <a:t> boxes</a:t>
            </a:r>
          </a:p>
          <a:p>
            <a:pPr lvl="1"/>
            <a:r>
              <a:rPr lang="es-ES" dirty="0"/>
              <a:t>Clase detectada</a:t>
            </a:r>
          </a:p>
          <a:p>
            <a:pPr lvl="1"/>
            <a:r>
              <a:rPr lang="es-ES" dirty="0"/>
              <a:t>Confianza de detección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79560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81A93-BC28-A09F-C4E0-7039CE3ED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5. Transfer </a:t>
            </a:r>
            <a:r>
              <a:rPr lang="es-PE" dirty="0" err="1"/>
              <a:t>Learning</a:t>
            </a:r>
            <a:r>
              <a:rPr lang="es-PE" dirty="0"/>
              <a:t> (Entrenamiento)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555FF-CF64-0E1C-0D13-549962482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6478587" cy="2988557"/>
          </a:xfrm>
        </p:spPr>
        <p:txBody>
          <a:bodyPr>
            <a:normAutofit/>
          </a:bodyPr>
          <a:lstStyle/>
          <a:p>
            <a:r>
              <a:rPr lang="es-ES" dirty="0"/>
              <a:t>Usamos transfer </a:t>
            </a:r>
            <a:r>
              <a:rPr lang="es-ES" dirty="0" err="1"/>
              <a:t>learning</a:t>
            </a:r>
            <a:r>
              <a:rPr lang="es-ES" dirty="0"/>
              <a:t>, partiendo de un modelo </a:t>
            </a:r>
            <a:r>
              <a:rPr lang="es-ES" dirty="0" err="1"/>
              <a:t>preentrenado</a:t>
            </a:r>
            <a:r>
              <a:rPr lang="es-ES" dirty="0"/>
              <a:t>.</a:t>
            </a:r>
            <a:br>
              <a:rPr lang="es-ES" dirty="0"/>
            </a:br>
            <a:endParaRPr lang="es-ES" dirty="0"/>
          </a:p>
          <a:p>
            <a:r>
              <a:rPr lang="es-ES" dirty="0"/>
              <a:t>Entrenamos el modelo durante 10 épocas usando imágenes de 640x640.</a:t>
            </a:r>
          </a:p>
          <a:p>
            <a:endParaRPr lang="es-P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6BAE012-4AF5-293B-AFDE-5193CC3E9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642" y="2338765"/>
            <a:ext cx="3225547" cy="218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15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E8412-19E8-5A69-5400-EAC212DFA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4696"/>
            <a:ext cx="9905998" cy="1478570"/>
          </a:xfrm>
        </p:spPr>
        <p:txBody>
          <a:bodyPr/>
          <a:lstStyle/>
          <a:p>
            <a:r>
              <a:rPr lang="es-PE" dirty="0"/>
              <a:t>6. Resultados y </a:t>
            </a:r>
            <a:r>
              <a:rPr lang="es-PE" dirty="0" err="1"/>
              <a:t>metricas</a:t>
            </a:r>
            <a:endParaRPr lang="es-PE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2C28D2A-3FEB-E33E-E7A7-A63FA3728F35}"/>
              </a:ext>
            </a:extLst>
          </p:cNvPr>
          <p:cNvSpPr txBox="1">
            <a:spLocks/>
          </p:cNvSpPr>
          <p:nvPr/>
        </p:nvSpPr>
        <p:spPr>
          <a:xfrm>
            <a:off x="1401057" y="1323798"/>
            <a:ext cx="9504010" cy="324820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El modelo fue evaluado utilizando métricas estándar para detección de objetos:</a:t>
            </a:r>
          </a:p>
          <a:p>
            <a:pPr lvl="1"/>
            <a:r>
              <a:rPr lang="es-ES" dirty="0" err="1"/>
              <a:t>Precision</a:t>
            </a:r>
            <a:endParaRPr lang="es-ES" dirty="0"/>
          </a:p>
          <a:p>
            <a:pPr lvl="1"/>
            <a:r>
              <a:rPr lang="es-ES" dirty="0" err="1"/>
              <a:t>Recall</a:t>
            </a:r>
            <a:endParaRPr lang="es-ES" dirty="0"/>
          </a:p>
          <a:p>
            <a:pPr lvl="1"/>
            <a:r>
              <a:rPr lang="es-ES" dirty="0" err="1"/>
              <a:t>mAP</a:t>
            </a:r>
            <a:r>
              <a:rPr lang="es-ES" dirty="0"/>
              <a:t> (mean </a:t>
            </a:r>
            <a:r>
              <a:rPr lang="es-ES" dirty="0" err="1"/>
              <a:t>Average</a:t>
            </a:r>
            <a:r>
              <a:rPr lang="es-ES" dirty="0"/>
              <a:t> </a:t>
            </a:r>
            <a:r>
              <a:rPr lang="es-ES" dirty="0" err="1"/>
              <a:t>Precision</a:t>
            </a:r>
            <a:r>
              <a:rPr lang="es-ES" dirty="0"/>
              <a:t>)</a:t>
            </a:r>
          </a:p>
          <a:p>
            <a:r>
              <a:rPr lang="es-ES" dirty="0"/>
              <a:t>Los resultados obtenidos muestran un desempeño adecuado del modelo en la detección de vehículos. Un valor alto de </a:t>
            </a:r>
            <a:r>
              <a:rPr lang="es-ES" dirty="0" err="1"/>
              <a:t>precision</a:t>
            </a:r>
            <a:r>
              <a:rPr lang="es-ES" dirty="0"/>
              <a:t> indica pocas falsas detecciones, mientras que el </a:t>
            </a:r>
            <a:r>
              <a:rPr lang="es-ES" dirty="0" err="1"/>
              <a:t>recall</a:t>
            </a:r>
            <a:r>
              <a:rPr lang="es-ES" dirty="0"/>
              <a:t> refleja la capacidad del modelo para detectar la mayoría de los vehículos presentes.</a:t>
            </a:r>
          </a:p>
          <a:p>
            <a:r>
              <a:rPr lang="es-ES" dirty="0"/>
              <a:t>Las posibles causas de errores incluyen:</a:t>
            </a:r>
          </a:p>
          <a:p>
            <a:pPr lvl="1"/>
            <a:r>
              <a:rPr lang="es-ES" dirty="0"/>
              <a:t>Oclusión parcial de vehículos</a:t>
            </a:r>
          </a:p>
          <a:p>
            <a:pPr lvl="1"/>
            <a:r>
              <a:rPr lang="es-ES" dirty="0"/>
              <a:t>Iluminación variable</a:t>
            </a:r>
          </a:p>
          <a:p>
            <a:pPr lvl="1"/>
            <a:r>
              <a:rPr lang="es-ES" dirty="0"/>
              <a:t>Escenarios con alta densidad vehicular</a:t>
            </a:r>
          </a:p>
          <a:p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8B7C5BB-A61E-3F55-12C6-AB6C6405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779" y="4865512"/>
            <a:ext cx="8085599" cy="172208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2859A79-07C7-2C44-393F-0BAC3EEB0C6C}"/>
              </a:ext>
            </a:extLst>
          </p:cNvPr>
          <p:cNvSpPr/>
          <p:nvPr/>
        </p:nvSpPr>
        <p:spPr>
          <a:xfrm>
            <a:off x="2212622" y="5655733"/>
            <a:ext cx="7766756" cy="248356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BCE9FF-1660-596C-CB4C-E2C1C384B2DA}"/>
              </a:ext>
            </a:extLst>
          </p:cNvPr>
          <p:cNvSpPr/>
          <p:nvPr/>
        </p:nvSpPr>
        <p:spPr>
          <a:xfrm>
            <a:off x="6953956" y="5904089"/>
            <a:ext cx="722488" cy="24835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270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31A35-09F1-27C1-F1B4-6C1C45563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33096"/>
            <a:ext cx="9905998" cy="1478570"/>
          </a:xfrm>
        </p:spPr>
        <p:txBody>
          <a:bodyPr/>
          <a:lstStyle/>
          <a:p>
            <a:r>
              <a:rPr lang="es-PE" dirty="0"/>
              <a:t>7. TEST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39C292-8A6E-A957-CE64-2EEB13867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845" y="1460684"/>
            <a:ext cx="4534656" cy="44730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68B0DA9-AD7A-6AC4-71E3-9A3A47374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820" y="1441638"/>
            <a:ext cx="4633207" cy="466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90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6827D-1A59-A170-7818-ACE76155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8. 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07757-FB19-2CD4-7535-9E96C19C3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Se logró implementar exitosamente un sistema de detección vehicular usando YOLOv8.</a:t>
            </a:r>
          </a:p>
          <a:p>
            <a:r>
              <a:rPr lang="es-ES" dirty="0"/>
              <a:t>El uso de transfer </a:t>
            </a:r>
            <a:r>
              <a:rPr lang="es-ES" dirty="0" err="1"/>
              <a:t>learning</a:t>
            </a:r>
            <a:r>
              <a:rPr lang="es-ES" dirty="0"/>
              <a:t> permitió reducir el tiempo de entrenamiento manteniendo un buen desempeño.</a:t>
            </a:r>
          </a:p>
          <a:p>
            <a:r>
              <a:rPr lang="es-ES" dirty="0"/>
              <a:t>El modelo demuestra ser una solución viable para aplicaciones de tráfico en tiempo real.</a:t>
            </a:r>
          </a:p>
          <a:p>
            <a:r>
              <a:rPr lang="es-ES" dirty="0"/>
              <a:t>Como trabajo futuro, se podría mejorar el modelo usando más datos o arquitecturas más grandes.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75178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92CA5-A1D8-2B15-08AE-0F20A1620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279" y="2689715"/>
            <a:ext cx="6892878" cy="1478570"/>
          </a:xfrm>
        </p:spPr>
        <p:txBody>
          <a:bodyPr/>
          <a:lstStyle/>
          <a:p>
            <a:r>
              <a:rPr lang="es-PE" dirty="0"/>
              <a:t>GRACIAS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E3DB71E9-1C3A-8C2D-12CF-6CCB4C044B88}"/>
              </a:ext>
            </a:extLst>
          </p:cNvPr>
          <p:cNvGrpSpPr/>
          <p:nvPr/>
        </p:nvGrpSpPr>
        <p:grpSpPr>
          <a:xfrm>
            <a:off x="8238478" y="0"/>
            <a:ext cx="3953522" cy="6858000"/>
            <a:chOff x="0" y="0"/>
            <a:chExt cx="1764443" cy="2309817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DCDC83F1-D671-2623-E807-828906E918E6}"/>
                </a:ext>
              </a:extLst>
            </p:cNvPr>
            <p:cNvSpPr/>
            <p:nvPr/>
          </p:nvSpPr>
          <p:spPr>
            <a:xfrm>
              <a:off x="0" y="0"/>
              <a:ext cx="1764443" cy="2309817"/>
            </a:xfrm>
            <a:custGeom>
              <a:avLst/>
              <a:gdLst/>
              <a:ahLst/>
              <a:cxnLst/>
              <a:rect l="l" t="t" r="r" b="b"/>
              <a:pathLst>
                <a:path w="1764443" h="2309817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3"/>
              <a:stretch>
                <a:fillRect t="-255" b="-255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908135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{A0B4D6E6-444B-4040-9E88-1FB144886220}TF6d5feb1e-e145-43f1-b745-cb4b54c5ee97494f94d6-c317f2461df2</Template>
  <TotalTime>67</TotalTime>
  <Words>984</Words>
  <Application>Microsoft Office PowerPoint</Application>
  <PresentationFormat>Panorámica</PresentationFormat>
  <Paragraphs>114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ITC Avant Garde Gothic</vt:lpstr>
      <vt:lpstr>Tw Cen MT</vt:lpstr>
      <vt:lpstr>Circuito</vt:lpstr>
      <vt:lpstr>Proyecto de Detección de Trafico</vt:lpstr>
      <vt:lpstr>AGENDA</vt:lpstr>
      <vt:lpstr>1. DEFINICION DEL PROBLEMA</vt:lpstr>
      <vt:lpstr>2. Dataset</vt:lpstr>
      <vt:lpstr>3. Exploración de datos</vt:lpstr>
      <vt:lpstr>4. Modelo seleccionado: YOLOv8</vt:lpstr>
      <vt:lpstr>5. Transfer Learning (Entrenamiento)</vt:lpstr>
      <vt:lpstr>6. Resultados y metricas</vt:lpstr>
      <vt:lpstr>7. TEST</vt:lpstr>
      <vt:lpstr>8. Conclusiones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de Detección de Trafico</dc:title>
  <dc:creator>Usuario</dc:creator>
  <cp:lastModifiedBy>Usuario</cp:lastModifiedBy>
  <cp:revision>3</cp:revision>
  <dcterms:created xsi:type="dcterms:W3CDTF">2026-02-06T21:29:55Z</dcterms:created>
  <dcterms:modified xsi:type="dcterms:W3CDTF">2026-02-06T22:37:22Z</dcterms:modified>
</cp:coreProperties>
</file>